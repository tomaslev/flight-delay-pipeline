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80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4572000" cy="45720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</a:rPr>
              <a:t>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 Airlines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Delay Analytics 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Project  |  DataScientest  |  Feb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MongoDB + Neo4j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38328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+ FastAPI + Docker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30936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 Real Flights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Doghan  |  Adam Bonwitt  |  Timo  |  Fabian K   ·   Mentor: Antoine 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this platform?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every year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 delays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9184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US flights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delayed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min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flight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 answers: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airlines delay the most — and why?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routes are most likely to be delayed?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flight be delayed, and by how many minutes?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shortest path between any two US airports?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layers · 7 Docker containers · one command to start everything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913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4913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913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560K Flights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88033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480641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0913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370913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0913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·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74033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66641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6913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656913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56913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Endpoints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0033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052641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2913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942913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2913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+ Plotly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3699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143699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3699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+ 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8391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2428391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28391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airports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6553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706553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Graph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6553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shortestPath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04309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7004309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04309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containers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command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32888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532888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32888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45736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45736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45736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58584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958584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58584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Neo4j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20040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004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32888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532888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532888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45736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745736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745736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58584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958584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58584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Specialized Databases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database is built for a different type of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Historical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24028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583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 real flights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74320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583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Medallion: Bronze → Silver → Gold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24612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83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 &amp; joins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74904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583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stats aggregation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32918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4290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Live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47288" y="22402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301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 positions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47288" y="27432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36301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OpenSky Network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47288" y="32461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36301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log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47288" y="37490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36301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JSON documents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62636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4008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008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Route Graph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19088" y="22402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6019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airport 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19088" y="27432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66019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5,167 route relationships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19088" y="324612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66019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shortestPath algorithm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19088" y="374904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6019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with SQL alone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Database Infrastructure + System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164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the foundation — LDM, Docker, and PostgreSQL 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2344784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37160" cy="1371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13232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LDM for the database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37160" cy="1371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13232" y="22402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docker-compose.yml for 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37160" cy="1371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13232" y="27432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SQL dump file as database blueprint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137160" cy="1371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13232" y="32461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a README.md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63340"/>
            <a:ext cx="4114800" cy="1124712"/>
          </a:xfrm>
          <a:prstGeom prst="rect">
            <a:avLst/>
          </a:prstGeom>
          <a:solidFill>
            <a:srgbClr val="0F1523"/>
          </a:solidFill>
          <a:ln w="12700">
            <a:solidFill>
              <a:srgbClr val="16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198" y="3863340"/>
            <a:ext cx="3935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Up Guide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198" y="4242164"/>
            <a:ext cx="3935896" cy="764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Clone the GitHub Repo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Start the docker container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docker compose up -d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Initialize the database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docker exec -i pg_airlines_container psql -U airlines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-d airlines_db &lt; ./airlines.sql</a:t>
            </a:r>
            <a:endParaRPr lang="en-US" sz="800" dirty="0"/>
          </a:p>
        </p:txBody>
      </p:sp>
      <p:pic>
        <p:nvPicPr>
          <p:cNvPr id="17" name="صورة 16">
            <a:extLst>
              <a:ext uri="{FF2B5EF4-FFF2-40B4-BE49-F238E27FC236}">
                <a16:creationId xmlns:a16="http://schemas.microsoft.com/office/drawing/2014/main" id="{AC25442B-140E-7D75-9FCA-A56373839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907" y="1325880"/>
            <a:ext cx="4203681" cy="36621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ETL — Data Collection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data from Kaggle and Meteostat, cleaning, and loading into bronze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20040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Flight delay dataset from Kaggle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 data from meteostat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up data loaded into bronze layer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sqlalchemy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206240" cy="3200400"/>
          </a:xfrm>
          <a:prstGeom prst="rect">
            <a:avLst/>
          </a:prstGeom>
          <a:solidFill>
            <a:srgbClr val="0F1523"/>
          </a:solidFill>
          <a:ln w="12700">
            <a:solidFill>
              <a:srgbClr val="16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#fetching daily weather data per location per day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</a:p>
          <a:p>
            <a:endParaRPr lang="en-US" sz="900" dirty="0">
              <a:solidFill>
                <a:srgbClr val="10B98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datetime(2024, 1, 1)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datetime(2024, 12, 31)</a:t>
            </a:r>
          </a:p>
          <a:p>
            <a:endParaRPr lang="en-US" sz="900" dirty="0">
              <a:solidFill>
                <a:srgbClr val="10B98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weather_records = []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_, row in df_stations.iterrows():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pd.isna(row["id"]) or row["id"] is None: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# skip stations with no id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 = ms.daily(row["id"], start, end)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daily_df = daily.fetch()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daily_df is None or daily_df.empty: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daily_df["station_id"] = row["id"]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daily_df["location_name"] = row["location_name"]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weather_records.append(daily_df)</a:t>
            </a:r>
          </a:p>
          <a:p>
            <a:endParaRPr lang="en-US" sz="900" dirty="0">
              <a:solidFill>
                <a:srgbClr val="10B98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df_weather = pd.concat(weather_records).reset_index()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print(df_weather.head(5))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print(len(df_weather["station_id"].unique()))</a:t>
            </a:r>
            <a:endParaRPr lang="en-US" sz="900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9211A229-4736-22FB-2E69-59A2E98E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028" y="1234441"/>
            <a:ext cx="418365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Medallion Architecture · Main use case: ML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21822"/>
            <a:ext cx="4656909" cy="2913017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B62D0B82-317F-6B99-F47D-CD5B2858D54A}"/>
              </a:ext>
            </a:extLst>
          </p:cNvPr>
          <p:cNvSpPr txBox="1"/>
          <p:nvPr/>
        </p:nvSpPr>
        <p:spPr>
          <a:xfrm>
            <a:off x="457200" y="1097280"/>
            <a:ext cx="6263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Why Medallion? Main use case: ML</a:t>
            </a:r>
            <a:endParaRPr lang="de-DE" sz="1400" dirty="0">
              <a:solidFill>
                <a:srgbClr val="64748B"/>
              </a:solidFill>
              <a:latin typeface="Arial" pitchFamily="34" charset="0"/>
              <a:cs typeface="Arial" pitchFamily="34" charset="-120"/>
            </a:endParaRPr>
          </a:p>
        </p:txBody>
      </p:sp>
      <p:graphicFrame>
        <p:nvGraphicFramePr>
          <p:cNvPr id="7" name="جدول 6">
            <a:extLst>
              <a:ext uri="{FF2B5EF4-FFF2-40B4-BE49-F238E27FC236}">
                <a16:creationId xmlns:a16="http://schemas.microsoft.com/office/drawing/2014/main" id="{6EA747E4-A212-18FB-5DD0-B012BE202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451569"/>
              </p:ext>
            </p:extLst>
          </p:nvPr>
        </p:nvGraphicFramePr>
        <p:xfrm>
          <a:off x="538570" y="2011680"/>
          <a:ext cx="4307750" cy="2034541"/>
        </p:xfrm>
        <a:graphic>
          <a:graphicData uri="http://schemas.openxmlformats.org/drawingml/2006/table">
            <a:tbl>
              <a:tblPr/>
              <a:tblGrid>
                <a:gridCol w="630842">
                  <a:extLst>
                    <a:ext uri="{9D8B030D-6E8A-4147-A177-3AD203B41FA5}">
                      <a16:colId xmlns:a16="http://schemas.microsoft.com/office/drawing/2014/main" val="94479147"/>
                    </a:ext>
                  </a:extLst>
                </a:gridCol>
                <a:gridCol w="1270696">
                  <a:extLst>
                    <a:ext uri="{9D8B030D-6E8A-4147-A177-3AD203B41FA5}">
                      <a16:colId xmlns:a16="http://schemas.microsoft.com/office/drawing/2014/main" val="4074046877"/>
                    </a:ext>
                  </a:extLst>
                </a:gridCol>
                <a:gridCol w="2406212">
                  <a:extLst>
                    <a:ext uri="{9D8B030D-6E8A-4147-A177-3AD203B41FA5}">
                      <a16:colId xmlns:a16="http://schemas.microsoft.com/office/drawing/2014/main" val="2023480797"/>
                    </a:ext>
                  </a:extLst>
                </a:gridCol>
              </a:tblGrid>
              <a:tr h="3065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Layer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Table / View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de-DE" dirty="0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09582"/>
                  </a:ext>
                </a:extLst>
              </a:tr>
              <a:tr h="47379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Bronze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7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bronze.flights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Raw flight data — 560,352 rows exactly as from CSV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719939"/>
                  </a:ext>
                </a:extLst>
              </a:tr>
              <a:tr h="30657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Bronze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7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bronze.weather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Raw weather data per city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108234"/>
                  </a:ext>
                </a:extLst>
              </a:tr>
              <a:tr h="47379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Silver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7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silver.flights_weather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Flights joined with weather — ready for analysis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053277"/>
                  </a:ext>
                </a:extLst>
              </a:tr>
              <a:tr h="47379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Gold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7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gold.delay_summary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Aggregated stats per airline/route — ready for ML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39147"/>
                  </a:ext>
                </a:extLst>
              </a:tr>
            </a:tbl>
          </a:graphicData>
        </a:graphic>
      </p:graphicFrame>
      <p:pic>
        <p:nvPicPr>
          <p:cNvPr id="8" name="صورة 7">
            <a:extLst>
              <a:ext uri="{FF2B5EF4-FFF2-40B4-BE49-F238E27FC236}">
                <a16:creationId xmlns:a16="http://schemas.microsoft.com/office/drawing/2014/main" id="{DECDBBD3-932C-9DA8-0B18-AEFF32DC6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71" y="868680"/>
            <a:ext cx="3644538" cy="3566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Machine Learning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100,000 real flights from PostgreSQL · saved as models.pkl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8" y="1188720"/>
            <a:ext cx="4297680" cy="356616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37168" y="1188720"/>
            <a:ext cx="45720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8" y="1234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8" y="16733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8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Will the flight be delayed?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8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YES / NO  +  probability 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8" y="290779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21216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100K flights from 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8" y="3346704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1216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LabelEncode: airline, origin, dest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8" y="3785616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21216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DepDel15 column (0 or 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8" y="422452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21216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probability 0.0 → 1.0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8" y="1188720"/>
            <a:ext cx="4297680" cy="356616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709168" y="1188720"/>
            <a:ext cx="45720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846328" y="1234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Regressor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8" y="16733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8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How many minutes delayed?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8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Expected delay in minutes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8" y="2907792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93216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100K flights from PostgreSQL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8" y="3346704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093216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LabelEncoded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8" y="3785616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093216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only on delayed flights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8" y="4224528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093216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minutes (e.g. ~43 min)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FastAPI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 Setup to request predictions · Utilizing pre-trained .pkl file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46812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22468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Container Setup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95452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27954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Utilizing pre-trained .pkl file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44092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68680" y="33440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prediction for the 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297680" cy="3200400"/>
          </a:xfrm>
          <a:prstGeom prst="rect">
            <a:avLst/>
          </a:prstGeom>
          <a:solidFill>
            <a:srgbClr val="0F1523"/>
          </a:solidFill>
          <a:ln w="12700">
            <a:solidFill>
              <a:srgbClr val="16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63440" y="128016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api/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🐳 Dockerfile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≡ logistic_regression.pkl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🐍 main.py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ℹ README.md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≡ requirements.txt</a:t>
            </a:r>
            <a:endParaRPr lang="en-US" sz="1600" dirty="0"/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E9D20579-B608-B7C8-D5D4-3EF286CBB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069" y="1822268"/>
            <a:ext cx="3254556" cy="20867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FastAPI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2547258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371600" y="254725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92779" y="1162597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2779" y="1162597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61664" y="2599510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461664" y="259951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73341" y="2632166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473341" y="2632166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request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45836" y="2651767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445836" y="2651767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.pkl-file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48602" y="3892740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448602" y="38927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6063" y="2050871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12571" y="257175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4091" y="33297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</a:t>
            </a:r>
            <a:endParaRPr lang="en-US" sz="1000" dirty="0"/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1D2D7999-9FAF-C24D-7F41-7085A67013F2}"/>
              </a:ext>
            </a:extLst>
          </p:cNvPr>
          <p:cNvSpPr txBox="1"/>
          <p:nvPr/>
        </p:nvSpPr>
        <p:spPr>
          <a:xfrm>
            <a:off x="2286000" y="2486688"/>
            <a:ext cx="45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>
                <a:effectLst/>
              </a:rPr>
              <a:t> </a:t>
            </a:r>
            <a:endParaRPr lang="de-DE" dirty="0"/>
          </a:p>
        </p:txBody>
      </p:sp>
      <p:sp>
        <p:nvSpPr>
          <p:cNvPr id="27" name="سهم: لأعلى 26">
            <a:extLst>
              <a:ext uri="{FF2B5EF4-FFF2-40B4-BE49-F238E27FC236}">
                <a16:creationId xmlns:a16="http://schemas.microsoft.com/office/drawing/2014/main" id="{2A7279CD-AEE9-6502-9A8D-0770FAE53C44}"/>
              </a:ext>
            </a:extLst>
          </p:cNvPr>
          <p:cNvSpPr/>
          <p:nvPr/>
        </p:nvSpPr>
        <p:spPr>
          <a:xfrm>
            <a:off x="1724297" y="1846608"/>
            <a:ext cx="235132" cy="64008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سهم: لليمين 27">
            <a:extLst>
              <a:ext uri="{FF2B5EF4-FFF2-40B4-BE49-F238E27FC236}">
                <a16:creationId xmlns:a16="http://schemas.microsoft.com/office/drawing/2014/main" id="{9CED5ABA-6449-0635-AC92-D7AC41E5775A}"/>
              </a:ext>
            </a:extLst>
          </p:cNvPr>
          <p:cNvSpPr/>
          <p:nvPr/>
        </p:nvSpPr>
        <p:spPr>
          <a:xfrm>
            <a:off x="2694211" y="2799024"/>
            <a:ext cx="724988" cy="2464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سهم: لليسار واليمين 28">
            <a:extLst>
              <a:ext uri="{FF2B5EF4-FFF2-40B4-BE49-F238E27FC236}">
                <a16:creationId xmlns:a16="http://schemas.microsoft.com/office/drawing/2014/main" id="{FE551993-1238-1D35-BFBA-F232E8359BF6}"/>
              </a:ext>
            </a:extLst>
          </p:cNvPr>
          <p:cNvSpPr/>
          <p:nvPr/>
        </p:nvSpPr>
        <p:spPr>
          <a:xfrm>
            <a:off x="4784289" y="2846070"/>
            <a:ext cx="640080" cy="22727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سهم: لأسفل 30">
            <a:extLst>
              <a:ext uri="{FF2B5EF4-FFF2-40B4-BE49-F238E27FC236}">
                <a16:creationId xmlns:a16="http://schemas.microsoft.com/office/drawing/2014/main" id="{21A0BE0A-8BB6-1593-0484-737356D163EA}"/>
              </a:ext>
            </a:extLst>
          </p:cNvPr>
          <p:cNvSpPr/>
          <p:nvPr/>
        </p:nvSpPr>
        <p:spPr>
          <a:xfrm>
            <a:off x="3948256" y="3285308"/>
            <a:ext cx="267789" cy="5747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سهم: لليسار واليمين 31">
            <a:extLst>
              <a:ext uri="{FF2B5EF4-FFF2-40B4-BE49-F238E27FC236}">
                <a16:creationId xmlns:a16="http://schemas.microsoft.com/office/drawing/2014/main" id="{B3301A25-38EB-4566-6D43-0A26354C33D9}"/>
              </a:ext>
            </a:extLst>
          </p:cNvPr>
          <p:cNvSpPr/>
          <p:nvPr/>
        </p:nvSpPr>
        <p:spPr>
          <a:xfrm>
            <a:off x="6785076" y="2880911"/>
            <a:ext cx="640080" cy="22727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3" name="صورة 32">
            <a:extLst>
              <a:ext uri="{FF2B5EF4-FFF2-40B4-BE49-F238E27FC236}">
                <a16:creationId xmlns:a16="http://schemas.microsoft.com/office/drawing/2014/main" id="{ADDDA33D-A03C-8FDC-39F6-861F4737D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799" y="424543"/>
            <a:ext cx="3537857" cy="1742105"/>
          </a:xfrm>
          <a:prstGeom prst="rect">
            <a:avLst/>
          </a:prstGeom>
        </p:spPr>
      </p:pic>
      <p:pic>
        <p:nvPicPr>
          <p:cNvPr id="34" name="صورة 33">
            <a:extLst>
              <a:ext uri="{FF2B5EF4-FFF2-40B4-BE49-F238E27FC236}">
                <a16:creationId xmlns:a16="http://schemas.microsoft.com/office/drawing/2014/main" id="{48D3D736-9FF3-667E-8007-110C557B9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1" y="3409405"/>
            <a:ext cx="3197926" cy="15154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Dashboard — 7 Pages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Dash + Plotly · OOP architecture · Sidebar filters update all charts instantly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 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 cards · monthly trend · day analysis · top routes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2888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624328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 Airlines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24328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 per airline · 5 causes stacked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45736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837176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  Routes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37176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top 20 airports · bubble chart (3 metrics)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58584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050024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50024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 · worst routes with exact minutes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114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Risk Analyzer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live weather + risk gauge — flagship page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3832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 Airport 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US map · size=volume · color=delay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3550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Route Graph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shortestPath between any 2 airports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Flight Risk Analyzer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 page — combines ML + live weather + historical data in one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234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Airline → origin airports filter automatically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347472" cy="347472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92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Origin → destinations filter automatically (Cascading)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5511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Day of 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954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6576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209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fetched from Open-Meteo API —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679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65760" y="3867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8679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Analyze → ML model predicts delay probability + minutes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1188720"/>
            <a:ext cx="3749040" cy="10058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21208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LOW RISK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 delay probability  ·  ~43 min expected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2423160"/>
            <a:ext cx="1828800" cy="91440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6636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ATL — Atlanta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16.8°C  ·  6.1 km/h  ·  0.0 mm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2423160"/>
            <a:ext cx="1828800" cy="91440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08660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LAX — Los Angeles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19.7°C  ·  11.6 km/h  ·  0.0 mm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2064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2064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08076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8076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704088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4088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800100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 min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00100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Delay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Route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 of the 7-page dashboard — presenter shares screen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KPI cards + monthly trend + Tuesday worst 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383280" y="1298448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3832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587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Airlines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delay rates + show Late Aircraft as main cause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355080" y="129844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3550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5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+ bubble chart — hover to show details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airline → airport → day → show live weather → click Analyze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383280" y="321868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33832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587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airports — show size vs color difference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355080" y="321868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3550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305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Graph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JFK → LAX — show Neo4j shortest path result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Perspectives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do next to make this production-ready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Live Flight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Kaggle CSV with a live API (OpenSky / AviationStack) to collect real-time flights automatically into MongoDB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3832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Auto ML Retraining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Apache Airflow to retrain the model monthly with new data — keeping predictions accurate over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3550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International Flights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beyond US domestic flights to include European and Middle East airlines using Eurocontrol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114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Alert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email or Slack alerts automatically when a route's delay rate exceeds a defined threshold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3832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AWS or GCP with auto-scaling so the platform handles real traffic from many 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Advanced 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XGBoost or neural networks for better accuracy, and add more features like historical weather patterns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 Program · DataScientest · February 2026 Cohort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Doghan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ML + Neo4j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Weather + Map + Docker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Documentation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2888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898648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898648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32888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Bonwitt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45736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5111496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111496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45736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45736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58584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7324344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324344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58584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Fabian 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58584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/predict Endpoint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Antoine F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Decisions —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each technology for the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5720" cy="1234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Dash, not Streamlit?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design and layout. Custom dark theme and complex callbacks not possible in Streamlit.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5720" cy="12344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89204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OOP architecture?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classes: LayoutBuilder + App. ChartFactory with 10 methods. Clean, readable, easy to extend.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5720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direct PostgreSQL?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going through the API. Loads 100K flights in seconds. Falls back to mock data if DB is down.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572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92040" y="25877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Open-Meteo for weather?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71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no API key needed. 346 airports with GPS coordinates. Real-time data fetched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Cascading Dropdowns?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does not need to know airport codes. Airline → Origin → Destination filters automatically step by step.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8620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45720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92040" y="39136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ORDER BY RANDOM()?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297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loading only January data. Gets a balanced sample from all months for better analysis and ML.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 Airlines — Flight Delay Analytics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http://localhost:8050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78892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API Docs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http://localhost:8000/docs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75488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 pgAdmin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http://localhost:5050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72084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Neo4j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http://localhost:7474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DataScientest · Data Engineer Program · February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1610</Words>
  <Application>Microsoft Office PowerPoint</Application>
  <PresentationFormat>عرض على الشاشة (16:9)</PresentationFormat>
  <Paragraphs>344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Consolas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DST Airlines — Flight Delay Analytics</dc:title>
  <dc:subject>PptxGenJS Presentation</dc:subject>
  <dc:creator>PptxGenJS</dc:creator>
  <cp:lastModifiedBy>Ali Doghan</cp:lastModifiedBy>
  <cp:revision>3</cp:revision>
  <dcterms:created xsi:type="dcterms:W3CDTF">2026-05-14T12:01:20Z</dcterms:created>
  <dcterms:modified xsi:type="dcterms:W3CDTF">2026-05-14T14:08:40Z</dcterms:modified>
</cp:coreProperties>
</file>