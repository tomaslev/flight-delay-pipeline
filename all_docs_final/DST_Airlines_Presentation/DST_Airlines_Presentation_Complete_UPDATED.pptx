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3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748070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029200" y="-1371600"/>
            <a:ext cx="4572000" cy="45720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Shape 1"/>
          <p:cNvSpPr/>
          <p:nvPr/>
        </p:nvSpPr>
        <p:spPr>
          <a:xfrm>
            <a:off x="365760" y="274320"/>
            <a:ext cx="548640" cy="5486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65760" y="256032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A0E1A"/>
                </a:solidFill>
              </a:rPr>
              <a:t>✈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457200" y="914400"/>
            <a:ext cx="82296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2860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Flight Delay Analytics Platform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 Project  |  DataScientest  |  Feb 2026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45720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+ MongoDB + Neo4j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8328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FastAPI + Docker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309360" y="3566160"/>
            <a:ext cx="27432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57200" y="43891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  |  Adam Bonwitt  |  Timo  |  Fabian K   ·   Mentor: Antoine F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do we need this platform?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$33B</a:t>
            </a:r>
            <a:endParaRPr lang="en-US" sz="46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Lost every year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due to delays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29184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4600" dirty="0"/>
          </a:p>
        </p:txBody>
      </p:sp>
      <p:sp>
        <p:nvSpPr>
          <p:cNvPr id="9" name="Text 7"/>
          <p:cNvSpPr/>
          <p:nvPr/>
        </p:nvSpPr>
        <p:spPr>
          <a:xfrm>
            <a:off x="329184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US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are delayed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17920" y="1325880"/>
            <a:ext cx="2651760" cy="15544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217920" y="1417320"/>
            <a:ext cx="265176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47 min</a:t>
            </a:r>
            <a:endParaRPr lang="en-US" sz="4600" dirty="0"/>
          </a:p>
        </p:txBody>
      </p:sp>
      <p:sp>
        <p:nvSpPr>
          <p:cNvPr id="12" name="Text 10"/>
          <p:cNvSpPr/>
          <p:nvPr/>
        </p:nvSpPr>
        <p:spPr>
          <a:xfrm>
            <a:off x="6217920" y="2194560"/>
            <a:ext cx="26517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delay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flight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7200" y="31089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platform answers: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40080" y="3429000"/>
            <a:ext cx="7772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airlines delay the most — and why?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Which routes are most likely to be delayed?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Will THIS flight be delayed, and by how many minutes?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is the shortest path between any two US airports?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Architecture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layers · 7 Docker containers · one command to start everything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84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4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560K Flights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Kaggle CSV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188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480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370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2370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STORAGE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2370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 ·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474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4766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56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656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656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ar-SA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Endpoints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760033" y="2194560"/>
            <a:ext cx="548640" cy="54864"/>
          </a:xfrm>
          <a:prstGeom prst="rect">
            <a:avLst/>
          </a:prstGeom>
          <a:solidFill>
            <a:srgbClr val="64748B"/>
          </a:solidFill>
          <a:ln w="1270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7052641" y="2075688"/>
            <a:ext cx="182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</a:rPr>
              <a:t>▶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2913" y="1280160"/>
            <a:ext cx="2103120" cy="20116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942913" y="1371600"/>
            <a:ext cx="2103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6942913" y="1920240"/>
            <a:ext cx="21031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 + Plotly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Pages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43699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143699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Models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143699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+ Linear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Regression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2428391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2428391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2428391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Open-Meteo API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706553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4706553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Graph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706553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algorithm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004309" y="3520440"/>
            <a:ext cx="2011680" cy="100584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7004309" y="3547872"/>
            <a:ext cx="2011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7004309" y="3931920"/>
            <a:ext cx="20116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containers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command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Numbers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320040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320040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 Flights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532888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2532888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28%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2532888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4745736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745736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4745736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958584" y="100584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958584" y="109728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6958584" y="210312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Neo4j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20040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320040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17" name="Text 15"/>
          <p:cNvSpPr/>
          <p:nvPr/>
        </p:nvSpPr>
        <p:spPr>
          <a:xfrm>
            <a:off x="320040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Pages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32888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Text 17"/>
          <p:cNvSpPr/>
          <p:nvPr/>
        </p:nvSpPr>
        <p:spPr>
          <a:xfrm>
            <a:off x="2532888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r>
              <a:rPr lang="ar-SA" sz="36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3600" dirty="0"/>
          </a:p>
        </p:txBody>
      </p:sp>
      <p:sp>
        <p:nvSpPr>
          <p:cNvPr id="20" name="Text 18"/>
          <p:cNvSpPr/>
          <p:nvPr/>
        </p:nvSpPr>
        <p:spPr>
          <a:xfrm>
            <a:off x="2532888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Endpoints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4745736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745736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3600" dirty="0"/>
          </a:p>
        </p:txBody>
      </p:sp>
      <p:sp>
        <p:nvSpPr>
          <p:cNvPr id="23" name="Text 21"/>
          <p:cNvSpPr/>
          <p:nvPr/>
        </p:nvSpPr>
        <p:spPr>
          <a:xfrm>
            <a:off x="4745736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Containers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958584" y="3108960"/>
            <a:ext cx="2057400" cy="19202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6958584" y="3200400"/>
            <a:ext cx="2057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3600" dirty="0"/>
          </a:p>
        </p:txBody>
      </p:sp>
      <p:sp>
        <p:nvSpPr>
          <p:cNvPr id="26" name="Text 24"/>
          <p:cNvSpPr/>
          <p:nvPr/>
        </p:nvSpPr>
        <p:spPr>
          <a:xfrm>
            <a:off x="6958584" y="4206240"/>
            <a:ext cx="2057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 Specialized Databases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Each database is built for a different type of data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4572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Structured Historical Data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75488" y="224028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6583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560,352 real flights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" y="274320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583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Medallion: Bronze → Silver → Gold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75488" y="324612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6583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queries &amp; joins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75488" y="3749040"/>
            <a:ext cx="109728" cy="10972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583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stats aggregation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2918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32918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34290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MongoDB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34290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Live Data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447288" y="224028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36301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flight positions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447288" y="274320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36301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OpenSky Network API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447288" y="324612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36301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prediction log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3447288" y="3749040"/>
            <a:ext cx="109728" cy="10972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36301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Flexible JSON documents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263640" y="1234440"/>
            <a:ext cx="2743200" cy="352044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9" name="Shape 27"/>
          <p:cNvSpPr/>
          <p:nvPr/>
        </p:nvSpPr>
        <p:spPr>
          <a:xfrm>
            <a:off x="6263640" y="1234440"/>
            <a:ext cx="45720" cy="3520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0" name="Text 28"/>
          <p:cNvSpPr/>
          <p:nvPr/>
        </p:nvSpPr>
        <p:spPr>
          <a:xfrm>
            <a:off x="6400800" y="128016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</a:t>
            </a:r>
            <a:endParaRPr lang="en-US" sz="2000" dirty="0"/>
          </a:p>
        </p:txBody>
      </p:sp>
      <p:sp>
        <p:nvSpPr>
          <p:cNvPr id="31" name="Text 29"/>
          <p:cNvSpPr/>
          <p:nvPr/>
        </p:nvSpPr>
        <p:spPr>
          <a:xfrm>
            <a:off x="6400800" y="176479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Route Graph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19088" y="224028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3" name="Text 31"/>
          <p:cNvSpPr/>
          <p:nvPr/>
        </p:nvSpPr>
        <p:spPr>
          <a:xfrm>
            <a:off x="6601968" y="217627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346 airport nodes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6419088" y="274320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6601968" y="267919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5,167 route relationships</a:t>
            </a:r>
            <a:endParaRPr lang="en-US" sz="1200" dirty="0"/>
          </a:p>
        </p:txBody>
      </p:sp>
      <p:sp>
        <p:nvSpPr>
          <p:cNvPr id="36" name="Shape 34"/>
          <p:cNvSpPr/>
          <p:nvPr/>
        </p:nvSpPr>
        <p:spPr>
          <a:xfrm>
            <a:off x="6419088" y="324612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7" name="Text 35"/>
          <p:cNvSpPr/>
          <p:nvPr/>
        </p:nvSpPr>
        <p:spPr>
          <a:xfrm>
            <a:off x="6601968" y="318211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shortestPath algorithm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19088" y="3749040"/>
            <a:ext cx="109728" cy="10972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9" name="Text 37"/>
          <p:cNvSpPr/>
          <p:nvPr/>
        </p:nvSpPr>
        <p:spPr>
          <a:xfrm>
            <a:off x="6601968" y="3685032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Impossible with SQL alone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1: Database Infrastructure + System Setup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457200" y="81642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Setting up the foundation — LDM, Docker, and PostgreSQL schema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325880"/>
            <a:ext cx="4114800" cy="2344784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First Steps: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02920" y="178308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713232" y="1665519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LDM for the database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02920" y="228600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713232" y="2168439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Init docker-compose.yml for PostgreSQL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2920" y="278892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713232" y="2671359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 SQL dump file as database blueprint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" y="3291840"/>
            <a:ext cx="137160" cy="137160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713232" y="3174279"/>
            <a:ext cx="3566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Providing a README.md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365760" y="3863340"/>
            <a:ext cx="4114800" cy="1124712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457198" y="3863340"/>
            <a:ext cx="3935896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 Up Guide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57198" y="4242164"/>
            <a:ext cx="3935896" cy="764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Clone the GitHub Repo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Start the docker container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docker compose up -d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Initialize the database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docker exec -i pg_airlines_container psql -U airlines \</a:t>
            </a:r>
            <a:endParaRPr lang="en-US" sz="800" dirty="0"/>
          </a:p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-d airlines_db &lt; ./airlines.sql</a:t>
            </a:r>
            <a:endParaRPr lang="en-US" sz="800" dirty="0"/>
          </a:p>
        </p:txBody>
      </p:sp>
      <p:pic>
        <p:nvPicPr>
          <p:cNvPr id="17" name="صورة 16">
            <a:extLst>
              <a:ext uri="{FF2B5EF4-FFF2-40B4-BE49-F238E27FC236}">
                <a16:creationId xmlns:a16="http://schemas.microsoft.com/office/drawing/2014/main" id="{AC25442B-140E-7D75-9FCA-A56373839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0907" y="1325880"/>
            <a:ext cx="4203681" cy="3662171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ETL — Data Collection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Extracting data from Kaggle and Meteostat, cleaning, and loading into bronze layer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411480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3931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Sources: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1737360"/>
            <a:ext cx="384048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Flight delay dataset from Kaggle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Weather data from meteostat</a:t>
            </a:r>
            <a:endParaRPr lang="en-US" sz="1300" dirty="0"/>
          </a:p>
          <a:p>
            <a:pPr marL="0" indent="0">
              <a:buNone/>
            </a:pP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Cleaned up data loaded into bronze layer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via sqlalchemy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420624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4754880" y="1280160"/>
            <a:ext cx="402336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#fetching daily weather data per location per day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from datetime import datetime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start = datetime(2024, 1, 1)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end = datetime(2024, 12, 31)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weather_records = []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_, row in df_stations.iterrows():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pd.isna(row["id"]) or row["id"] is None: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  # skip stations with no id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 = ms.daily(row["id"], start, end)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daily_df = daily.fetch()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daily_df is None or daily_df.empty: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continue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daily_df["station_id"] = row["id"]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daily_df["location_name"] = row["location_name"]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weather_records.append(daily_df)</a:t>
            </a:r>
          </a:p>
          <a:p>
            <a:endParaRPr lang="en-US" sz="900" dirty="0">
              <a:solidFill>
                <a:srgbClr val="10B981"/>
              </a:solidFill>
              <a:latin typeface="Courier New" pitchFamily="34" charset="0"/>
              <a:ea typeface="Courier New" pitchFamily="34" charset="-122"/>
              <a:cs typeface="Courier New" pitchFamily="34" charset="-120"/>
            </a:endParaRP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df_weather = pd.concat(weather_records).reset_index()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print(df_weather.head(5))</a:t>
            </a:r>
          </a:p>
          <a:p>
            <a:r>
              <a:rPr lang="en-US" sz="900" dirty="0">
                <a:solidFill>
                  <a:srgbClr val="10B98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print(len(df_weather["station_id"].unique()))</a:t>
            </a:r>
            <a:endParaRPr lang="en-US" sz="900" dirty="0"/>
          </a:p>
        </p:txBody>
      </p:sp>
      <p:pic>
        <p:nvPicPr>
          <p:cNvPr id="9" name="صورة 8">
            <a:extLst>
              <a:ext uri="{FF2B5EF4-FFF2-40B4-BE49-F238E27FC236}">
                <a16:creationId xmlns:a16="http://schemas.microsoft.com/office/drawing/2014/main" id="{9211A229-4736-22FB-2E69-59A2E98E79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86028" y="1234441"/>
            <a:ext cx="4183652" cy="3200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2: Database Design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— Medallion Architecture · Main use case: ML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521822"/>
            <a:ext cx="4656909" cy="2913017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6" name="مربع نص 5">
            <a:extLst>
              <a:ext uri="{FF2B5EF4-FFF2-40B4-BE49-F238E27FC236}">
                <a16:creationId xmlns:a16="http://schemas.microsoft.com/office/drawing/2014/main" id="{B62D0B82-317F-6B99-F47D-CD5B2858D54A}"/>
              </a:ext>
            </a:extLst>
          </p:cNvPr>
          <p:cNvSpPr txBox="1"/>
          <p:nvPr/>
        </p:nvSpPr>
        <p:spPr>
          <a:xfrm>
            <a:off x="457200" y="1097280"/>
            <a:ext cx="62636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64748B"/>
                </a:solidFill>
                <a:latin typeface="Arial" pitchFamily="34" charset="0"/>
                <a:cs typeface="Arial" pitchFamily="34" charset="-120"/>
              </a:rPr>
              <a:t>Why Medallion? Main use case: ML</a:t>
            </a:r>
            <a:endParaRPr lang="de-DE" sz="1400" dirty="0">
              <a:solidFill>
                <a:srgbClr val="64748B"/>
              </a:solidFill>
              <a:latin typeface="Arial" pitchFamily="34" charset="0"/>
              <a:cs typeface="Arial" pitchFamily="34" charset="-120"/>
            </a:endParaRPr>
          </a:p>
        </p:txBody>
      </p:sp>
      <p:graphicFrame>
        <p:nvGraphicFramePr>
          <p:cNvPr id="7" name="جدول 6">
            <a:extLst>
              <a:ext uri="{FF2B5EF4-FFF2-40B4-BE49-F238E27FC236}">
                <a16:creationId xmlns:a16="http://schemas.microsoft.com/office/drawing/2014/main" id="{6EA747E4-A212-18FB-5DD0-B012BE202C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4451569"/>
              </p:ext>
            </p:extLst>
          </p:nvPr>
        </p:nvGraphicFramePr>
        <p:xfrm>
          <a:off x="538570" y="2011680"/>
          <a:ext cx="4307750" cy="2034541"/>
        </p:xfrm>
        <a:graphic>
          <a:graphicData uri="http://schemas.openxmlformats.org/drawingml/2006/table">
            <a:tbl>
              <a:tblPr/>
              <a:tblGrid>
                <a:gridCol w="630842">
                  <a:extLst>
                    <a:ext uri="{9D8B030D-6E8A-4147-A177-3AD203B41FA5}">
                      <a16:colId xmlns:a16="http://schemas.microsoft.com/office/drawing/2014/main" val="94479147"/>
                    </a:ext>
                  </a:extLst>
                </a:gridCol>
                <a:gridCol w="1270696">
                  <a:extLst>
                    <a:ext uri="{9D8B030D-6E8A-4147-A177-3AD203B41FA5}">
                      <a16:colId xmlns:a16="http://schemas.microsoft.com/office/drawing/2014/main" val="4074046877"/>
                    </a:ext>
                  </a:extLst>
                </a:gridCol>
                <a:gridCol w="2406212">
                  <a:extLst>
                    <a:ext uri="{9D8B030D-6E8A-4147-A177-3AD203B41FA5}">
                      <a16:colId xmlns:a16="http://schemas.microsoft.com/office/drawing/2014/main" val="2023480797"/>
                    </a:ext>
                  </a:extLst>
                </a:gridCol>
              </a:tblGrid>
              <a:tr h="306575"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Layer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Table / View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rtl="0" fontAlgn="t">
                        <a:buNone/>
                      </a:pPr>
                      <a:r>
                        <a:rPr lang="de-DE" sz="900" b="1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Description</a:t>
                      </a:r>
                      <a:endParaRPr lang="de-DE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0909582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Bronze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bronze.flights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Raw flight data — 560,352 rows exactly as from CSV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90719939"/>
                  </a:ext>
                </a:extLst>
              </a:tr>
              <a:tr h="306575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Bronze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bronze.weather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Raw weather data per city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23108234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Silver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silver.flights_weather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Flights joined with weather — ready for analysis</a:t>
                      </a:r>
                      <a:endParaRPr lang="en-US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63053277"/>
                  </a:ext>
                </a:extLst>
              </a:tr>
              <a:tr h="473797"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900" b="0" i="0" u="none" strike="noStrike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Gold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de-DE" sz="700" b="0" i="0" u="none" strike="noStrike">
                          <a:solidFill>
                            <a:srgbClr val="FFFFFF"/>
                          </a:solidFill>
                          <a:effectLst/>
                          <a:latin typeface="Consolas" panose="020B0609020204030204" pitchFamily="49" charset="0"/>
                        </a:rPr>
                        <a:t>gold.delay_summary</a:t>
                      </a:r>
                      <a:endParaRPr lang="de-DE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rtl="0" fontAlgn="t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FFFFFF"/>
                          </a:solidFill>
                          <a:effectLst/>
                          <a:latin typeface="Arial" panose="020B0604020202020204" pitchFamily="34" charset="0"/>
                        </a:rPr>
                        <a:t>Aggregated stats per airline/route — ready for ML</a:t>
                      </a:r>
                      <a:endParaRPr lang="en-US" dirty="0">
                        <a:effectLst/>
                      </a:endParaRPr>
                    </a:p>
                  </a:txBody>
                  <a:tcPr marL="123825" marR="123825" marT="57150" marB="57150">
                    <a:lnL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81239147"/>
                  </a:ext>
                </a:extLst>
              </a:tr>
            </a:tbl>
          </a:graphicData>
        </a:graphic>
      </p:graphicFrame>
      <p:pic>
        <p:nvPicPr>
          <p:cNvPr id="8" name="صورة 7">
            <a:extLst>
              <a:ext uri="{FF2B5EF4-FFF2-40B4-BE49-F238E27FC236}">
                <a16:creationId xmlns:a16="http://schemas.microsoft.com/office/drawing/2014/main" id="{DECDBBD3-932C-9DA8-0B18-AEFF32DC64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5771" y="868680"/>
            <a:ext cx="3644538" cy="3566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3: Machine Learning Models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Trained on 100,000 real flights from PostgreSQL · saved as models.pkl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37168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137168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274328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8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Regression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74328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Will the flight be delayed?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8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YES / NO  +  probability %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8" y="2907792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521216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 100K flights from PostgreSQL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8" y="3346704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3" name="Text 11"/>
          <p:cNvSpPr/>
          <p:nvPr/>
        </p:nvSpPr>
        <p:spPr>
          <a:xfrm>
            <a:off x="521216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LabelEncode: airline, origin, dest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8" y="3785616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521216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 DepDel15 column (0 or 1)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8" y="4224528"/>
            <a:ext cx="182880" cy="182880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521216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probability 0.0 → 1.0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709168" y="1188720"/>
            <a:ext cx="4297680" cy="3566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9" name="Shape 17"/>
          <p:cNvSpPr/>
          <p:nvPr/>
        </p:nvSpPr>
        <p:spPr>
          <a:xfrm>
            <a:off x="4709168" y="1188720"/>
            <a:ext cx="45720" cy="35661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4846328" y="123444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Regressor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4846328" y="1673352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Linear Regression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846328" y="205740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Question: How many minutes delayed?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4846328" y="24231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Output: Expected delay in minutes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846328" y="2907792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5" name="Text 23"/>
          <p:cNvSpPr/>
          <p:nvPr/>
        </p:nvSpPr>
        <p:spPr>
          <a:xfrm>
            <a:off x="5093216" y="2852928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100K flights from PostgreSQL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846328" y="3346704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7" name="Text 25"/>
          <p:cNvSpPr/>
          <p:nvPr/>
        </p:nvSpPr>
        <p:spPr>
          <a:xfrm>
            <a:off x="5093216" y="3291840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LabelEncoded features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4846328" y="3785616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093216" y="3730752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Train only on delayed flights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846328" y="4224528"/>
            <a:ext cx="182880" cy="18288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5093216" y="4169664"/>
            <a:ext cx="3749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Predict: minutes (e.g. ~43 min)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FastAPI Implementation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Container Setup to request predictions · Utilizing pre-trained .pkl file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224681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868680" y="224681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Own Container Setup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457200" y="279545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7" name="Text 5"/>
          <p:cNvSpPr/>
          <p:nvPr/>
        </p:nvSpPr>
        <p:spPr>
          <a:xfrm>
            <a:off x="868680" y="279545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Utilizing pre-trained .pkl file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3344092"/>
            <a:ext cx="320040" cy="320040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868680" y="334409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Returning prediction for the UI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0" y="1234440"/>
            <a:ext cx="4297680" cy="3200400"/>
          </a:xfrm>
          <a:prstGeom prst="rect">
            <a:avLst/>
          </a:prstGeom>
          <a:solidFill>
            <a:srgbClr val="0F1523"/>
          </a:solidFill>
          <a:ln w="12700">
            <a:solidFill>
              <a:srgbClr val="161D2E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663440" y="1280160"/>
            <a:ext cx="411480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📁 api/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🐳 Dockerfile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≡ logistic_regression.pkl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🐍 main.py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ℹ README.md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00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≡ requirements.txt</a:t>
            </a:r>
            <a:endParaRPr lang="en-US" sz="1600" dirty="0"/>
          </a:p>
        </p:txBody>
      </p:sp>
      <p:pic>
        <p:nvPicPr>
          <p:cNvPr id="12" name="صورة 11">
            <a:extLst>
              <a:ext uri="{FF2B5EF4-FFF2-40B4-BE49-F238E27FC236}">
                <a16:creationId xmlns:a16="http://schemas.microsoft.com/office/drawing/2014/main" id="{E9D20579-B608-B7C8-D5D4-3EF286CBB99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94069" y="1822268"/>
            <a:ext cx="3254556" cy="2086791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4: FastAPI 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371600" y="2547258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4" name="Text 2"/>
          <p:cNvSpPr/>
          <p:nvPr/>
        </p:nvSpPr>
        <p:spPr>
          <a:xfrm>
            <a:off x="1371600" y="2547258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992779" y="1162597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992779" y="1162597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requirements.txt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461664" y="2599510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461664" y="259951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main.py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473341" y="2632166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5473341" y="2632166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 request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45836" y="2651767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7445836" y="2651767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.pkl-file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448602" y="3892740"/>
            <a:ext cx="1280160" cy="64008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448602" y="3892740"/>
            <a:ext cx="12801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56063" y="2050871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installs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2612571" y="257175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44091" y="3329704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provides</a:t>
            </a:r>
            <a:endParaRPr lang="en-US" sz="1000" dirty="0"/>
          </a:p>
        </p:txBody>
      </p:sp>
      <p:sp>
        <p:nvSpPr>
          <p:cNvPr id="24" name="مربع نص 23">
            <a:extLst>
              <a:ext uri="{FF2B5EF4-FFF2-40B4-BE49-F238E27FC236}">
                <a16:creationId xmlns:a16="http://schemas.microsoft.com/office/drawing/2014/main" id="{1D2D7999-9FAF-C24D-7F41-7085A67013F2}"/>
              </a:ext>
            </a:extLst>
          </p:cNvPr>
          <p:cNvSpPr txBox="1"/>
          <p:nvPr/>
        </p:nvSpPr>
        <p:spPr>
          <a:xfrm>
            <a:off x="2286000" y="2486688"/>
            <a:ext cx="457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de-DE" b="0" dirty="0">
                <a:effectLst/>
              </a:rPr>
              <a:t> </a:t>
            </a:r>
            <a:endParaRPr lang="de-DE" dirty="0"/>
          </a:p>
        </p:txBody>
      </p:sp>
      <p:sp>
        <p:nvSpPr>
          <p:cNvPr id="27" name="سهم: لأعلى 26">
            <a:extLst>
              <a:ext uri="{FF2B5EF4-FFF2-40B4-BE49-F238E27FC236}">
                <a16:creationId xmlns:a16="http://schemas.microsoft.com/office/drawing/2014/main" id="{2A7279CD-AEE9-6502-9A8D-0770FAE53C44}"/>
              </a:ext>
            </a:extLst>
          </p:cNvPr>
          <p:cNvSpPr/>
          <p:nvPr/>
        </p:nvSpPr>
        <p:spPr>
          <a:xfrm>
            <a:off x="1724297" y="1846608"/>
            <a:ext cx="235132" cy="640080"/>
          </a:xfrm>
          <a:prstGeom prst="up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8" name="سهم: لليمين 27">
            <a:extLst>
              <a:ext uri="{FF2B5EF4-FFF2-40B4-BE49-F238E27FC236}">
                <a16:creationId xmlns:a16="http://schemas.microsoft.com/office/drawing/2014/main" id="{9CED5ABA-6449-0635-AC92-D7AC41E5775A}"/>
              </a:ext>
            </a:extLst>
          </p:cNvPr>
          <p:cNvSpPr/>
          <p:nvPr/>
        </p:nvSpPr>
        <p:spPr>
          <a:xfrm>
            <a:off x="2694211" y="2799024"/>
            <a:ext cx="724988" cy="246409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9" name="سهم: لليسار واليمين 28">
            <a:extLst>
              <a:ext uri="{FF2B5EF4-FFF2-40B4-BE49-F238E27FC236}">
                <a16:creationId xmlns:a16="http://schemas.microsoft.com/office/drawing/2014/main" id="{FE551993-1238-1D35-BFBA-F232E8359BF6}"/>
              </a:ext>
            </a:extLst>
          </p:cNvPr>
          <p:cNvSpPr/>
          <p:nvPr/>
        </p:nvSpPr>
        <p:spPr>
          <a:xfrm>
            <a:off x="4784289" y="2846070"/>
            <a:ext cx="640080" cy="22727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1" name="سهم: لأسفل 30">
            <a:extLst>
              <a:ext uri="{FF2B5EF4-FFF2-40B4-BE49-F238E27FC236}">
                <a16:creationId xmlns:a16="http://schemas.microsoft.com/office/drawing/2014/main" id="{21A0BE0A-8BB6-1593-0484-737356D163EA}"/>
              </a:ext>
            </a:extLst>
          </p:cNvPr>
          <p:cNvSpPr/>
          <p:nvPr/>
        </p:nvSpPr>
        <p:spPr>
          <a:xfrm>
            <a:off x="3948256" y="3285308"/>
            <a:ext cx="267789" cy="574759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2" name="سهم: لليسار واليمين 31">
            <a:extLst>
              <a:ext uri="{FF2B5EF4-FFF2-40B4-BE49-F238E27FC236}">
                <a16:creationId xmlns:a16="http://schemas.microsoft.com/office/drawing/2014/main" id="{B3301A25-38EB-4566-6D43-0A26354C33D9}"/>
              </a:ext>
            </a:extLst>
          </p:cNvPr>
          <p:cNvSpPr/>
          <p:nvPr/>
        </p:nvSpPr>
        <p:spPr>
          <a:xfrm>
            <a:off x="6785076" y="2880911"/>
            <a:ext cx="640080" cy="227274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3" name="صورة 32">
            <a:extLst>
              <a:ext uri="{FF2B5EF4-FFF2-40B4-BE49-F238E27FC236}">
                <a16:creationId xmlns:a16="http://schemas.microsoft.com/office/drawing/2014/main" id="{ADDDA33D-A03C-8FDC-39F6-861F4737D0E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799" y="424543"/>
            <a:ext cx="3537857" cy="1742105"/>
          </a:xfrm>
          <a:prstGeom prst="rect">
            <a:avLst/>
          </a:prstGeom>
        </p:spPr>
      </p:pic>
      <p:pic>
        <p:nvPicPr>
          <p:cNvPr id="34" name="صورة 33">
            <a:extLst>
              <a:ext uri="{FF2B5EF4-FFF2-40B4-BE49-F238E27FC236}">
                <a16:creationId xmlns:a16="http://schemas.microsoft.com/office/drawing/2014/main" id="{48D3D736-9FF3-667E-8007-110C557B993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591" y="3409405"/>
            <a:ext cx="3197926" cy="151544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 5: Dashboard — 7 Pages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Built with Dash + Plotly · OOP architecture · Sidebar filters update all charts instantly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▣  Overview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11480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KPI cards · monthly trend · day analysis · top routes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532888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2624328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✈  Airlines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624328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 per airline · 5 causes stacked chart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45736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4837176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⬡  Routes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837176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top 20 airports · bubble chart (3 metrics)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58584" y="1234440"/>
            <a:ext cx="20574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7050024" y="1280160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▲  Trends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050024" y="1691640"/>
            <a:ext cx="19202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Monthly trend · worst routes with exact minutes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00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4114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Risk Analyzer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+ live weather + risk gauge — flagship page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918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33832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🗺  Airport Map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3832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US map · size=volume · color=delay rate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263640" y="2880360"/>
            <a:ext cx="2743200" cy="141732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6355080" y="2926080"/>
            <a:ext cx="25603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Route Graph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6355080" y="3337560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Neo4j shortestPath between any 2 airports</a:t>
            </a:r>
            <a:endParaRPr lang="en-US" sz="11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Flight Risk Analyzer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flagship page — combines ML + live weather + historical data in one workflow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65760" y="1234440"/>
            <a:ext cx="347472" cy="347472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04672" y="123444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origin airports filter automatically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1892808"/>
            <a:ext cx="347472" cy="347472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65760" y="1892808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04672" y="1892808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Origin → destinations filter automatically (Cascading)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551176"/>
            <a:ext cx="347472" cy="347472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65760" y="2551176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04672" y="2551176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Day of Week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209544"/>
            <a:ext cx="347472" cy="347472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365760" y="3209544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04672" y="3209544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weather fetched from Open-Meteo API — automatically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3867912"/>
            <a:ext cx="347472" cy="347472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65760" y="3867912"/>
            <a:ext cx="34747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04672" y="3867912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Click Analyze → ML model predicts delay probability + minutes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120640" y="1188720"/>
            <a:ext cx="3749040" cy="100584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5212080" y="123444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LOW RISK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5212080" y="1645920"/>
            <a:ext cx="35661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20.4% delay probability  ·  ~43 min expected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12064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3" name="Text 21"/>
          <p:cNvSpPr/>
          <p:nvPr/>
        </p:nvSpPr>
        <p:spPr>
          <a:xfrm>
            <a:off x="516636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ATL — Atlanta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16636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16.8°C  ·  6.1 km/h  ·  0.0 mm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7040880" y="2423160"/>
            <a:ext cx="1828800" cy="91440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7086600" y="2468880"/>
            <a:ext cx="1737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LAX — Los Angeles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086600" y="2834640"/>
            <a:ext cx="17373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19.7°C  ·  11.6 km/h  ·  0.0 mm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512064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9" name="Text 27"/>
          <p:cNvSpPr/>
          <p:nvPr/>
        </p:nvSpPr>
        <p:spPr>
          <a:xfrm>
            <a:off x="512064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20.6%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512064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608076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2" name="Text 30"/>
          <p:cNvSpPr/>
          <p:nvPr/>
        </p:nvSpPr>
        <p:spPr>
          <a:xfrm>
            <a:off x="608076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26.5%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608076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704088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5" name="Text 33"/>
          <p:cNvSpPr/>
          <p:nvPr/>
        </p:nvSpPr>
        <p:spPr>
          <a:xfrm>
            <a:off x="704088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20.2%</a:t>
            </a:r>
            <a:endParaRPr lang="en-US" sz="1500" dirty="0"/>
          </a:p>
        </p:txBody>
      </p:sp>
      <p:sp>
        <p:nvSpPr>
          <p:cNvPr id="36" name="Text 34"/>
          <p:cNvSpPr/>
          <p:nvPr/>
        </p:nvSpPr>
        <p:spPr>
          <a:xfrm>
            <a:off x="704088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Delay Rate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8001000" y="3566160"/>
            <a:ext cx="914400" cy="128016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8" name="Text 36"/>
          <p:cNvSpPr/>
          <p:nvPr/>
        </p:nvSpPr>
        <p:spPr>
          <a:xfrm>
            <a:off x="8001000" y="3611880"/>
            <a:ext cx="914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7.7 min</a:t>
            </a:r>
            <a:endParaRPr lang="en-US" sz="1500" dirty="0"/>
          </a:p>
        </p:txBody>
      </p:sp>
      <p:sp>
        <p:nvSpPr>
          <p:cNvPr id="39" name="Text 37"/>
          <p:cNvSpPr/>
          <p:nvPr/>
        </p:nvSpPr>
        <p:spPr>
          <a:xfrm>
            <a:off x="8001000" y="41148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Delay</a:t>
            </a:r>
            <a:endParaRPr lang="en-US" sz="900" dirty="0"/>
          </a:p>
          <a:p>
            <a:pPr marL="0" indent="0" algn="ctr">
              <a:buNone/>
            </a:pPr>
            <a:r>
              <a:rPr lang="en-US" sz="9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 Route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Walk-through of the 7-page dashboard — presenter shares screen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411480" y="1298448"/>
            <a:ext cx="384048" cy="384048"/>
          </a:xfrm>
          <a:prstGeom prst="ellipse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114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869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Overview Page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Show KPI cards + monthly trend + Tuesday worst day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2918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3383280" y="1298448"/>
            <a:ext cx="384048" cy="384048"/>
          </a:xfrm>
          <a:prstGeom prst="ellipse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33832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8587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Airlines Page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3832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Compare delay rates + show Late Aircraft as main cause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63640" y="123444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6355080" y="129844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6355080" y="129844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30568" y="131673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Routes Page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73736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Heatmap + bubble chart — hover to show details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200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411480" y="3218688"/>
            <a:ext cx="384048" cy="384048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4114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8869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Risk Analyzer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114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Select airline → airport → day → show live weather → click Analyze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2918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3383280" y="3218688"/>
            <a:ext cx="384048" cy="384048"/>
          </a:xfrm>
          <a:prstGeom prst="ellipse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33832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8587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Airport Map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3832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Hover over airports — show size vs color difference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63640" y="3154680"/>
            <a:ext cx="2834640" cy="17830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30" name="Shape 28"/>
          <p:cNvSpPr/>
          <p:nvPr/>
        </p:nvSpPr>
        <p:spPr>
          <a:xfrm>
            <a:off x="6355080" y="3218688"/>
            <a:ext cx="384048" cy="384048"/>
          </a:xfrm>
          <a:prstGeom prst="ellipse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1" name="Text 29"/>
          <p:cNvSpPr/>
          <p:nvPr/>
        </p:nvSpPr>
        <p:spPr>
          <a:xfrm>
            <a:off x="6355080" y="3218688"/>
            <a:ext cx="384048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0A0E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30568" y="3236976"/>
            <a:ext cx="21945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Route Graph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657600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 JFK → LAX — show Neo4j shortest path result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Perspectives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 would do next to make this production-ready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Text 3"/>
          <p:cNvSpPr/>
          <p:nvPr/>
        </p:nvSpPr>
        <p:spPr>
          <a:xfrm>
            <a:off x="4114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📡 Live Flight API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Replace Kaggle CSV with a live API (OpenSky / AviationStack) to collect real-time flights automatically into MongoDB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8" name="Text 6"/>
          <p:cNvSpPr/>
          <p:nvPr/>
        </p:nvSpPr>
        <p:spPr>
          <a:xfrm>
            <a:off x="33832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🔄 Auto ML Retraining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3832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 Apache Airflow to retrain the model monthly with new data — keeping predictions accurate over time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63640" y="123444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6355080" y="128016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International Flights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355080" y="171907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beyond US domestic flights to include European and Middle East airlines using Eurocontrol data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00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114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Alert System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114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Send email or Slack alerts automatically when a route's delay rate exceeds a defined threshold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2918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Text 15"/>
          <p:cNvSpPr/>
          <p:nvPr/>
        </p:nvSpPr>
        <p:spPr>
          <a:xfrm>
            <a:off x="33832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☁️ Cloud Deployment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3832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Deploy on AWS or GCP with auto-scaling so the platform handles real traffic from many users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63640" y="3108960"/>
            <a:ext cx="2834640" cy="1737360"/>
          </a:xfrm>
          <a:prstGeom prst="rect">
            <a:avLst/>
          </a:prstGeom>
          <a:solidFill>
            <a:srgbClr val="161D2E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Text 18"/>
          <p:cNvSpPr/>
          <p:nvPr/>
        </p:nvSpPr>
        <p:spPr>
          <a:xfrm>
            <a:off x="6355080" y="3154680"/>
            <a:ext cx="265176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Advanced ML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355080" y="3593592"/>
            <a:ext cx="265176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XGBoost or neural networks for better accuracy, and add more features like historical weather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Decisions — Dashboard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we chose each technology for the dashboard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320040" y="1234440"/>
            <a:ext cx="45720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45720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Dash, not Streamlit?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control over design and layout. Custom dark theme and complex callbacks not possible in Streamlit.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23444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9" name="Shape 7"/>
          <p:cNvSpPr/>
          <p:nvPr/>
        </p:nvSpPr>
        <p:spPr>
          <a:xfrm>
            <a:off x="4754880" y="1234440"/>
            <a:ext cx="45720" cy="1234440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0" name="Text 8"/>
          <p:cNvSpPr/>
          <p:nvPr/>
        </p:nvSpPr>
        <p:spPr>
          <a:xfrm>
            <a:off x="4892040" y="126187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OOP architecture?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64592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classes: LayoutBuilder + App. ChartFactory with 10 methods. Clean, readable, easy to extend.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 dirty="0"/>
          </a:p>
        </p:txBody>
      </p:sp>
      <p:sp>
        <p:nvSpPr>
          <p:cNvPr id="13" name="Shape 11"/>
          <p:cNvSpPr/>
          <p:nvPr/>
        </p:nvSpPr>
        <p:spPr>
          <a:xfrm>
            <a:off x="320040" y="256032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4" name="Text 12"/>
          <p:cNvSpPr/>
          <p:nvPr/>
        </p:nvSpPr>
        <p:spPr>
          <a:xfrm>
            <a:off x="457200" y="2587752"/>
            <a:ext cx="4023360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de-DE" sz="1300" b="1" dirty="0">
                <a:solidFill>
                  <a:srgbClr val="8B5CF6"/>
                </a:solidFill>
                <a:latin typeface="Arial" pitchFamily="34" charset="0"/>
                <a:cs typeface="Arial" pitchFamily="34" charset="-120"/>
              </a:rPr>
              <a:t>Why</a:t>
            </a:r>
            <a:r>
              <a:rPr lang="de-DE" sz="1400" dirty="0"/>
              <a:t> </a:t>
            </a:r>
            <a:r>
              <a:rPr lang="de-DE" sz="1300" b="1" dirty="0">
                <a:solidFill>
                  <a:srgbClr val="8B5CF6"/>
                </a:solidFill>
                <a:latin typeface="Arial" pitchFamily="34" charset="0"/>
                <a:cs typeface="Arial" pitchFamily="34" charset="-120"/>
              </a:rPr>
              <a:t>API</a:t>
            </a:r>
            <a:r>
              <a:rPr lang="de-DE" sz="1400" dirty="0"/>
              <a:t> </a:t>
            </a:r>
            <a:r>
              <a:rPr lang="de-DE" sz="1300" b="1" dirty="0">
                <a:solidFill>
                  <a:srgbClr val="8B5CF6"/>
                </a:solidFill>
                <a:latin typeface="Arial" pitchFamily="34" charset="0"/>
                <a:cs typeface="Arial" pitchFamily="34" charset="-120"/>
              </a:rPr>
              <a:t>Layer?</a:t>
            </a:r>
            <a:endParaRPr lang="en-US" sz="1300" b="1" dirty="0">
              <a:solidFill>
                <a:srgbClr val="8B5CF6"/>
              </a:solidFill>
              <a:latin typeface="Arial" pitchFamily="34" charset="0"/>
              <a:cs typeface="Arial" pitchFamily="34" charset="-120"/>
            </a:endParaRPr>
          </a:p>
        </p:txBody>
      </p:sp>
      <p:sp>
        <p:nvSpPr>
          <p:cNvPr id="15" name="Text 13"/>
          <p:cNvSpPr/>
          <p:nvPr/>
        </p:nvSpPr>
        <p:spPr>
          <a:xfrm>
            <a:off x="457199" y="3154680"/>
            <a:ext cx="3899263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Dashboard uses </a:t>
            </a:r>
            <a:r>
              <a:rPr lang="en-US" sz="1050" dirty="0" err="1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FastAPI</a:t>
            </a:r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 endpoints instead of direct PostgreSQL: </a:t>
            </a:r>
            <a:endParaRPr lang="ar-SA" sz="1050" dirty="0">
              <a:solidFill>
                <a:srgbClr val="F1F5F9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Separation of concerns </a:t>
            </a:r>
            <a:endParaRPr lang="ar-SA" sz="1050" dirty="0">
              <a:solidFill>
                <a:srgbClr val="F1F5F9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Reusable by other apps </a:t>
            </a:r>
            <a:endParaRPr lang="ar-SA" sz="1050" dirty="0">
              <a:solidFill>
                <a:srgbClr val="F1F5F9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Production-ready (auth, rate limiting) </a:t>
            </a:r>
            <a:endParaRPr lang="ar-SA" sz="1050" dirty="0">
              <a:solidFill>
                <a:srgbClr val="F1F5F9"/>
              </a:solidFill>
              <a:latin typeface="Arial" pitchFamily="34" charset="0"/>
              <a:cs typeface="Arial" pitchFamily="34" charset="-120"/>
            </a:endParaRPr>
          </a:p>
          <a:p>
            <a:pPr marL="171450" indent="-171450">
              <a:buFontTx/>
              <a:buChar char="-"/>
            </a:pPr>
            <a:r>
              <a:rPr lang="en-US" sz="1050" dirty="0">
                <a:solidFill>
                  <a:srgbClr val="F1F5F9"/>
                </a:solidFill>
                <a:latin typeface="Arial" pitchFamily="34" charset="0"/>
                <a:cs typeface="Arial" pitchFamily="34" charset="-120"/>
              </a:rPr>
              <a:t>Automatic fallback to mock data</a:t>
            </a:r>
          </a:p>
        </p:txBody>
      </p:sp>
      <p:sp>
        <p:nvSpPr>
          <p:cNvPr id="16" name="Shape 14"/>
          <p:cNvSpPr/>
          <p:nvPr/>
        </p:nvSpPr>
        <p:spPr>
          <a:xfrm>
            <a:off x="4754880" y="256032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7" name="Shape 15"/>
          <p:cNvSpPr/>
          <p:nvPr/>
        </p:nvSpPr>
        <p:spPr>
          <a:xfrm>
            <a:off x="4754880" y="2560320"/>
            <a:ext cx="45720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8" name="Text 16"/>
          <p:cNvSpPr/>
          <p:nvPr/>
        </p:nvSpPr>
        <p:spPr>
          <a:xfrm>
            <a:off x="4892040" y="258775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Open-Meteo for weather?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297180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 — no API key needed. 346 airports with GPS coordinates. Real-time data fetched automatically.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F59E0B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1" name="Shape 19"/>
          <p:cNvSpPr/>
          <p:nvPr/>
        </p:nvSpPr>
        <p:spPr>
          <a:xfrm>
            <a:off x="320040" y="388620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2" name="Text 20"/>
          <p:cNvSpPr/>
          <p:nvPr/>
        </p:nvSpPr>
        <p:spPr>
          <a:xfrm>
            <a:off x="45720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Cascading Dropdowns?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5720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does not need to know airport codes. Airline → Origin → Destination filters automatically step by step.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4754880" y="3886200"/>
            <a:ext cx="4251960" cy="1234440"/>
          </a:xfrm>
          <a:prstGeom prst="rect">
            <a:avLst/>
          </a:prstGeom>
          <a:solidFill>
            <a:srgbClr val="161D2E"/>
          </a:solidFill>
          <a:ln w="1905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5" name="Shape 23"/>
          <p:cNvSpPr/>
          <p:nvPr/>
        </p:nvSpPr>
        <p:spPr>
          <a:xfrm>
            <a:off x="4754880" y="3886200"/>
            <a:ext cx="45720" cy="1234440"/>
          </a:xfrm>
          <a:prstGeom prst="rect">
            <a:avLst/>
          </a:prstGeom>
          <a:solidFill>
            <a:srgbClr val="8B5CF6"/>
          </a:solidFill>
          <a:ln w="127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6" name="Text 24"/>
          <p:cNvSpPr/>
          <p:nvPr/>
        </p:nvSpPr>
        <p:spPr>
          <a:xfrm>
            <a:off x="4892040" y="3913632"/>
            <a:ext cx="4023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ORDER BY RANDOM()?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4892040" y="4297680"/>
            <a:ext cx="4023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Prevents loading only January data. Gets a balanced sample from all months for better analysis and ML.</a:t>
            </a:r>
            <a:endParaRPr lang="en-US" sz="11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Team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 Program · DataScientest · February 2026 Cohort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320040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00D4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5" name="Shape 3"/>
          <p:cNvSpPr/>
          <p:nvPr/>
        </p:nvSpPr>
        <p:spPr>
          <a:xfrm>
            <a:off x="685800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685800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20040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Ali Doghan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+ ML + Neo4j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Weather + Map + Docker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Documentation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532888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4A9EFF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0" name="Shape 8"/>
          <p:cNvSpPr/>
          <p:nvPr/>
        </p:nvSpPr>
        <p:spPr>
          <a:xfrm>
            <a:off x="2898648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4A9E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1" name="Text 9"/>
          <p:cNvSpPr/>
          <p:nvPr/>
        </p:nvSpPr>
        <p:spPr>
          <a:xfrm>
            <a:off x="2898648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4A9E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2532888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Adam Bonwitt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532888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Collection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 Design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Bronze Layer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745736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8B5CF6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15" name="Shape 13"/>
          <p:cNvSpPr/>
          <p:nvPr/>
        </p:nvSpPr>
        <p:spPr>
          <a:xfrm>
            <a:off x="5111496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8B5CF6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6" name="Text 14"/>
          <p:cNvSpPr/>
          <p:nvPr/>
        </p:nvSpPr>
        <p:spPr>
          <a:xfrm>
            <a:off x="5111496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8B5C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4745736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Timo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745736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Docker Compose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PostgreSQL Schema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FastAPI Base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58584" y="1234440"/>
            <a:ext cx="2057400" cy="2468880"/>
          </a:xfrm>
          <a:prstGeom prst="rect">
            <a:avLst/>
          </a:prstGeom>
          <a:solidFill>
            <a:srgbClr val="0F1523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25000"/>
              </a:srgbClr>
            </a:outerShdw>
          </a:effectLst>
        </p:spPr>
        <p:txBody>
          <a:bodyPr/>
          <a:lstStyle/>
          <a:p>
            <a:endParaRPr lang="de-DE"/>
          </a:p>
        </p:txBody>
      </p:sp>
      <p:sp>
        <p:nvSpPr>
          <p:cNvPr id="20" name="Shape 18"/>
          <p:cNvSpPr/>
          <p:nvPr/>
        </p:nvSpPr>
        <p:spPr>
          <a:xfrm>
            <a:off x="7324344" y="1325880"/>
            <a:ext cx="1325880" cy="1325880"/>
          </a:xfrm>
          <a:prstGeom prst="ellipse">
            <a:avLst/>
          </a:prstGeom>
          <a:solidFill>
            <a:srgbClr val="161D2E"/>
          </a:solidFill>
          <a:ln w="25400">
            <a:solidFill>
              <a:srgbClr val="10B981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21" name="Text 19"/>
          <p:cNvSpPr/>
          <p:nvPr/>
        </p:nvSpPr>
        <p:spPr>
          <a:xfrm>
            <a:off x="7324344" y="1325880"/>
            <a:ext cx="1325880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FK</a:t>
            </a:r>
            <a:endParaRPr lang="en-US" sz="3000" dirty="0"/>
          </a:p>
        </p:txBody>
      </p:sp>
      <p:sp>
        <p:nvSpPr>
          <p:cNvPr id="22" name="Text 20"/>
          <p:cNvSpPr/>
          <p:nvPr/>
        </p:nvSpPr>
        <p:spPr>
          <a:xfrm>
            <a:off x="6958584" y="2724912"/>
            <a:ext cx="2057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Fabian K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58584" y="3090672"/>
            <a:ext cx="2057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ML Pipeline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/predict Endpoint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Evaluation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57200" y="3931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Mentor: Antoine F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0E1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200400" y="457200"/>
            <a:ext cx="3657600" cy="3657600"/>
          </a:xfrm>
          <a:prstGeom prst="ellipse">
            <a:avLst/>
          </a:prstGeom>
          <a:solidFill>
            <a:srgbClr val="00D4FF">
              <a:alpha val="10000"/>
            </a:srgbClr>
          </a:solidFill>
          <a:ln w="12700">
            <a:solidFill>
              <a:srgbClr val="00D4FF">
                <a:alpha val="15000"/>
              </a:srgbClr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3" name="Text 1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6000" b="1" dirty="0">
                <a:solidFill>
                  <a:srgbClr val="F1F5F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You!</a:t>
            </a:r>
            <a:endParaRPr lang="en-US" sz="6000" dirty="0"/>
          </a:p>
        </p:txBody>
      </p:sp>
      <p:sp>
        <p:nvSpPr>
          <p:cNvPr id="4" name="Text 2"/>
          <p:cNvSpPr/>
          <p:nvPr/>
        </p:nvSpPr>
        <p:spPr>
          <a:xfrm>
            <a:off x="457200" y="19202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DST Airlines — Flight Delay Analytics Platform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82296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6" name="Text 4"/>
          <p:cNvSpPr/>
          <p:nvPr/>
        </p:nvSpPr>
        <p:spPr>
          <a:xfrm>
            <a:off x="82296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📊  Dashboard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82296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http://localhost:8050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8892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9" name="Text 7"/>
          <p:cNvSpPr/>
          <p:nvPr/>
        </p:nvSpPr>
        <p:spPr>
          <a:xfrm>
            <a:off x="278892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⚡  API Docs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78892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http://localhost:8000/docs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75488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2" name="Text 10"/>
          <p:cNvSpPr/>
          <p:nvPr/>
        </p:nvSpPr>
        <p:spPr>
          <a:xfrm>
            <a:off x="475488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🗄  pgAdmin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75488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http://localhost:5050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720840" y="2651760"/>
            <a:ext cx="1828800" cy="640080"/>
          </a:xfrm>
          <a:prstGeom prst="rect">
            <a:avLst/>
          </a:prstGeom>
          <a:solidFill>
            <a:srgbClr val="161D2E"/>
          </a:solidFill>
          <a:ln w="12700">
            <a:solidFill>
              <a:srgbClr val="00D4FF"/>
            </a:solidFill>
            <a:prstDash val="solid"/>
          </a:ln>
        </p:spPr>
        <p:txBody>
          <a:bodyPr/>
          <a:lstStyle/>
          <a:p>
            <a:endParaRPr lang="de-DE"/>
          </a:p>
        </p:txBody>
      </p:sp>
      <p:sp>
        <p:nvSpPr>
          <p:cNvPr id="15" name="Text 13"/>
          <p:cNvSpPr/>
          <p:nvPr/>
        </p:nvSpPr>
        <p:spPr>
          <a:xfrm>
            <a:off x="6720840" y="2679192"/>
            <a:ext cx="1828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0D4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🕸  Neo4j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720840" y="2971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http://localhost:7474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457200" y="44805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DataScientest · Data Engineer Program · February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1617</Words>
  <Application>Microsoft Office PowerPoint</Application>
  <PresentationFormat>عرض على الشاشة (16:9)</PresentationFormat>
  <Paragraphs>348</Paragraphs>
  <Slides>18</Slides>
  <Notes>18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18</vt:i4>
      </vt:variant>
    </vt:vector>
  </HeadingPairs>
  <TitlesOfParts>
    <vt:vector size="22" baseType="lpstr">
      <vt:lpstr>Arial</vt:lpstr>
      <vt:lpstr>Consolas</vt:lpstr>
      <vt:lpstr>Courier New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DST Airlines — Flight Delay Analytics</dc:title>
  <dc:subject>PptxGenJS Presentation</dc:subject>
  <dc:creator/>
  <cp:lastModifiedBy>Ali Doghan</cp:lastModifiedBy>
  <cp:revision>7</cp:revision>
  <dcterms:created xsi:type="dcterms:W3CDTF">2026-05-14T12:01:20Z</dcterms:created>
  <dcterms:modified xsi:type="dcterms:W3CDTF">2026-05-19T18:25:35Z</dcterms:modified>
</cp:coreProperties>
</file>